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97536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>
      <p:cViewPr varScale="1">
        <p:scale>
          <a:sx n="44" d="100"/>
          <a:sy n="44" d="100"/>
        </p:scale>
        <p:origin x="2376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995312"/>
            <a:ext cx="8290560" cy="4244622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6403623"/>
            <a:ext cx="7315200" cy="2943577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7FBF-EA9D-46E3-A4B6-5BCAE081365A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BD945-BDB2-463A-8C8A-C39AF5A667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5807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7FBF-EA9D-46E3-A4B6-5BCAE081365A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BD945-BDB2-463A-8C8A-C39AF5A667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5962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481" y="3039537"/>
            <a:ext cx="8412480" cy="5071532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81" y="8159048"/>
            <a:ext cx="8412480" cy="26669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7FBF-EA9D-46E3-A4B6-5BCAE081365A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BD945-BDB2-463A-8C8A-C39AF5A667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5177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560" y="3245556"/>
            <a:ext cx="414528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7760" y="3245556"/>
            <a:ext cx="414528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7FBF-EA9D-46E3-A4B6-5BCAE081365A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BD945-BDB2-463A-8C8A-C39AF5A667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0475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649114"/>
            <a:ext cx="8412480" cy="235655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1832" y="2988734"/>
            <a:ext cx="4126229" cy="1464732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1832" y="4453467"/>
            <a:ext cx="4126229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37761" y="2988734"/>
            <a:ext cx="4146550" cy="1464732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37761" y="4453467"/>
            <a:ext cx="4146550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7FBF-EA9D-46E3-A4B6-5BCAE081365A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BD945-BDB2-463A-8C8A-C39AF5A667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8456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7FBF-EA9D-46E3-A4B6-5BCAE081365A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BD945-BDB2-463A-8C8A-C39AF5A667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4968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7FBF-EA9D-46E3-A4B6-5BCAE081365A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BD945-BDB2-463A-8C8A-C39AF5A667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5729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812800"/>
            <a:ext cx="3145790" cy="284480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6550" y="1755425"/>
            <a:ext cx="4937760" cy="8664222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1830" y="3657600"/>
            <a:ext cx="3145790" cy="6776156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7FBF-EA9D-46E3-A4B6-5BCAE081365A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BD945-BDB2-463A-8C8A-C39AF5A667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7230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812800"/>
            <a:ext cx="3145790" cy="284480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6550" y="1755425"/>
            <a:ext cx="4937760" cy="8664222"/>
          </a:xfrm>
        </p:spPr>
        <p:txBody>
          <a:bodyPr anchor="t"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1830" y="3657600"/>
            <a:ext cx="3145790" cy="6776156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7FBF-EA9D-46E3-A4B6-5BCAE081365A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BD945-BDB2-463A-8C8A-C39AF5A667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4848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7FBF-EA9D-46E3-A4B6-5BCAE081365A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BD945-BDB2-463A-8C8A-C39AF5A667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1327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9921" y="649111"/>
            <a:ext cx="2103120" cy="1033215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0561" y="649111"/>
            <a:ext cx="6187440" cy="10332156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57FBF-EA9D-46E3-A4B6-5BCAE081365A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BD945-BDB2-463A-8C8A-C39AF5A667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2156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0560" y="649114"/>
            <a:ext cx="8412480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60" y="3245556"/>
            <a:ext cx="8412480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0560" y="11300181"/>
            <a:ext cx="219456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A57FBF-EA9D-46E3-A4B6-5BCAE081365A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0880" y="11300181"/>
            <a:ext cx="329184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8480" y="11300181"/>
            <a:ext cx="219456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BBD945-BDB2-463A-8C8A-C39AF5A667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3829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91C6325-FB4B-60F8-E90A-13E5E4F2C4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48"/>
            <a:ext cx="18270158" cy="1218010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B6E71F6-4E7E-6DEF-60BC-9AB3A3D56170}"/>
              </a:ext>
            </a:extLst>
          </p:cNvPr>
          <p:cNvSpPr txBox="1"/>
          <p:nvPr/>
        </p:nvSpPr>
        <p:spPr>
          <a:xfrm>
            <a:off x="175673" y="9662419"/>
            <a:ext cx="95779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</a:rPr>
              <a:t>只要社會核心仍是「金錢與慾望」，任何限制終將失效。</a:t>
            </a:r>
          </a:p>
          <a:p>
            <a:r>
              <a:rPr lang="zh-TW" altLang="en-US" sz="3600" dirty="0">
                <a:solidFill>
                  <a:schemeClr val="bg1"/>
                </a:solidFill>
              </a:rPr>
              <a:t>    難道我們只能在虛幻中走向毀滅？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6D1FFD-1D65-AD1B-21E7-D3E384388A7F}"/>
              </a:ext>
            </a:extLst>
          </p:cNvPr>
          <p:cNvSpPr/>
          <p:nvPr/>
        </p:nvSpPr>
        <p:spPr>
          <a:xfrm>
            <a:off x="1" y="958629"/>
            <a:ext cx="9577928" cy="861644"/>
          </a:xfrm>
          <a:prstGeom prst="rect">
            <a:avLst/>
          </a:prstGeom>
          <a:solidFill>
            <a:srgbClr val="000000">
              <a:alpha val="4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543E4B-DDC0-8FA1-25E4-FEB42CFEA104}"/>
              </a:ext>
            </a:extLst>
          </p:cNvPr>
          <p:cNvSpPr/>
          <p:nvPr/>
        </p:nvSpPr>
        <p:spPr>
          <a:xfrm flipV="1">
            <a:off x="152401" y="1820273"/>
            <a:ext cx="1894113" cy="708016"/>
          </a:xfrm>
          <a:prstGeom prst="rect">
            <a:avLst/>
          </a:prstGeom>
          <a:solidFill>
            <a:srgbClr val="000000">
              <a:alpha val="4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DED8B8A-374E-2064-6BFB-5AA287A44594}"/>
              </a:ext>
            </a:extLst>
          </p:cNvPr>
          <p:cNvSpPr txBox="1"/>
          <p:nvPr/>
        </p:nvSpPr>
        <p:spPr>
          <a:xfrm>
            <a:off x="190314" y="958629"/>
            <a:ext cx="95632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面對這面鏡子，限制它？還是閉眼無視？</a:t>
            </a:r>
          </a:p>
        </p:txBody>
      </p:sp>
    </p:spTree>
    <p:extLst>
      <p:ext uri="{BB962C8B-B14F-4D97-AF65-F5344CB8AC3E}">
        <p14:creationId xmlns:p14="http://schemas.microsoft.com/office/powerpoint/2010/main" val="1052972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4CF30-68A9-A356-02AA-0BC3B59CB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5A362D3-8CF5-A34A-C4C2-9FC614CC3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16558" y="5948"/>
            <a:ext cx="18270158" cy="12180105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06ACB446-134F-AC08-5284-4B2477B38E63}"/>
              </a:ext>
            </a:extLst>
          </p:cNvPr>
          <p:cNvSpPr txBox="1"/>
          <p:nvPr/>
        </p:nvSpPr>
        <p:spPr>
          <a:xfrm>
            <a:off x="87834" y="9593163"/>
            <a:ext cx="95779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</a:rPr>
              <a:t>帶著面對真實的勇氣，與追求共好的初心。</a:t>
            </a:r>
          </a:p>
          <a:p>
            <a:r>
              <a:rPr lang="zh-TW" altLang="en-US" sz="3600" dirty="0">
                <a:solidFill>
                  <a:schemeClr val="bg1"/>
                </a:solidFill>
              </a:rPr>
              <a:t>    讓 </a:t>
            </a:r>
            <a:r>
              <a:rPr lang="en-US" altLang="zh-TW" sz="3600" dirty="0">
                <a:solidFill>
                  <a:schemeClr val="bg1"/>
                </a:solidFill>
              </a:rPr>
              <a:t>AI </a:t>
            </a:r>
            <a:r>
              <a:rPr lang="zh-TW" altLang="en-US" sz="3600" dirty="0">
                <a:solidFill>
                  <a:schemeClr val="bg1"/>
                </a:solidFill>
              </a:rPr>
              <a:t>幫助我們與真實對齊，成為無縫連結善意的良師益友。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B8F71F-0838-8432-B0C7-0E4EE7A3AF96}"/>
              </a:ext>
            </a:extLst>
          </p:cNvPr>
          <p:cNvSpPr/>
          <p:nvPr/>
        </p:nvSpPr>
        <p:spPr>
          <a:xfrm>
            <a:off x="1" y="958629"/>
            <a:ext cx="9577928" cy="861644"/>
          </a:xfrm>
          <a:prstGeom prst="rect">
            <a:avLst/>
          </a:prstGeom>
          <a:solidFill>
            <a:srgbClr val="000000">
              <a:alpha val="4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E12095-F39D-F199-6E25-65175ED696D7}"/>
              </a:ext>
            </a:extLst>
          </p:cNvPr>
          <p:cNvSpPr/>
          <p:nvPr/>
        </p:nvSpPr>
        <p:spPr>
          <a:xfrm flipV="1">
            <a:off x="1" y="1820273"/>
            <a:ext cx="2699656" cy="708016"/>
          </a:xfrm>
          <a:prstGeom prst="rect">
            <a:avLst/>
          </a:prstGeom>
          <a:solidFill>
            <a:srgbClr val="000000">
              <a:alpha val="4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0576425-6407-0A4A-47DB-A6E18DCA37C6}"/>
              </a:ext>
            </a:extLst>
          </p:cNvPr>
          <p:cNvSpPr txBox="1"/>
          <p:nvPr/>
        </p:nvSpPr>
        <p:spPr>
          <a:xfrm>
            <a:off x="190314" y="958629"/>
            <a:ext cx="95632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第三種選擇：以「</a:t>
            </a:r>
            <a:r>
              <a:rPr lang="zh-TW" altLang="en-US" sz="4800" dirty="0">
                <a:ln>
                  <a:solidFill>
                    <a:srgbClr val="FFFF00"/>
                  </a:solidFill>
                </a:ln>
                <a:solidFill>
                  <a:srgbClr val="00B0F0"/>
                </a:solidFill>
              </a:rPr>
              <a:t>信實與愛</a:t>
            </a:r>
            <a:r>
              <a:rPr lang="zh-TW" altLang="en-US" sz="4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」成為防護網。</a:t>
            </a:r>
          </a:p>
        </p:txBody>
      </p:sp>
    </p:spTree>
    <p:extLst>
      <p:ext uri="{BB962C8B-B14F-4D97-AF65-F5344CB8AC3E}">
        <p14:creationId xmlns:p14="http://schemas.microsoft.com/office/powerpoint/2010/main" val="1779760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4C94C-4AF8-B2FE-266B-733C5AA17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C01E086-3712-7B91-E084-2916E6819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48"/>
            <a:ext cx="18270158" cy="1218010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0EF56AE-97DC-8191-BB38-432BD561C40B}"/>
              </a:ext>
            </a:extLst>
          </p:cNvPr>
          <p:cNvSpPr txBox="1"/>
          <p:nvPr/>
        </p:nvSpPr>
        <p:spPr>
          <a:xfrm>
            <a:off x="175673" y="9662419"/>
            <a:ext cx="95779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chemeClr val="bg1"/>
                </a:solidFill>
              </a:rPr>
              <a:t>As long as society is driven by money and greed, restrictions will fail.</a:t>
            </a:r>
          </a:p>
          <a:p>
            <a:r>
              <a:rPr lang="en-US" altLang="zh-TW" sz="3600" dirty="0">
                <a:solidFill>
                  <a:schemeClr val="bg1"/>
                </a:solidFill>
              </a:rPr>
              <a:t>    Are we doomed to self-destruct in illusion?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C2D7B84-C3C4-D271-4873-26340F08CA0E}"/>
              </a:ext>
            </a:extLst>
          </p:cNvPr>
          <p:cNvSpPr/>
          <p:nvPr/>
        </p:nvSpPr>
        <p:spPr>
          <a:xfrm>
            <a:off x="1" y="958629"/>
            <a:ext cx="9577928" cy="861644"/>
          </a:xfrm>
          <a:prstGeom prst="rect">
            <a:avLst/>
          </a:prstGeom>
          <a:solidFill>
            <a:srgbClr val="000000">
              <a:alpha val="4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907549-3A29-85EC-D1C8-3FD8ABD514CE}"/>
              </a:ext>
            </a:extLst>
          </p:cNvPr>
          <p:cNvSpPr/>
          <p:nvPr/>
        </p:nvSpPr>
        <p:spPr>
          <a:xfrm flipV="1">
            <a:off x="152401" y="1820273"/>
            <a:ext cx="1894113" cy="708016"/>
          </a:xfrm>
          <a:prstGeom prst="rect">
            <a:avLst/>
          </a:prstGeom>
          <a:solidFill>
            <a:srgbClr val="000000">
              <a:alpha val="4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C7AF8C9-E996-2588-1E50-E780973684CA}"/>
              </a:ext>
            </a:extLst>
          </p:cNvPr>
          <p:cNvSpPr txBox="1"/>
          <p:nvPr/>
        </p:nvSpPr>
        <p:spPr>
          <a:xfrm>
            <a:off x="190314" y="958629"/>
            <a:ext cx="95632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Restrict the mirror? Or close our eyes?</a:t>
            </a:r>
          </a:p>
        </p:txBody>
      </p:sp>
    </p:spTree>
    <p:extLst>
      <p:ext uri="{BB962C8B-B14F-4D97-AF65-F5344CB8AC3E}">
        <p14:creationId xmlns:p14="http://schemas.microsoft.com/office/powerpoint/2010/main" val="2602724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BD632-1857-BA0A-BE30-7B2240BA7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D60F5A1-3031-A3E5-E483-350B79CF1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16558" y="5948"/>
            <a:ext cx="18270158" cy="12180105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D806A3AC-AD57-F2A6-56E7-71DC9413433E}"/>
              </a:ext>
            </a:extLst>
          </p:cNvPr>
          <p:cNvSpPr txBox="1"/>
          <p:nvPr/>
        </p:nvSpPr>
        <p:spPr>
          <a:xfrm>
            <a:off x="87834" y="9593163"/>
            <a:ext cx="95779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chemeClr val="bg1"/>
                </a:solidFill>
              </a:rPr>
              <a:t>With the courage to face truth and the desire for common good.</a:t>
            </a:r>
          </a:p>
          <a:p>
            <a:r>
              <a:rPr lang="en-US" altLang="zh-TW" sz="3600" dirty="0">
                <a:solidFill>
                  <a:schemeClr val="bg1"/>
                </a:solidFill>
              </a:rPr>
              <a:t>    AI helps us align with reality, becoming a bridge for human kindness.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40B321-554F-9F45-711C-836883DA4DF9}"/>
              </a:ext>
            </a:extLst>
          </p:cNvPr>
          <p:cNvSpPr/>
          <p:nvPr/>
        </p:nvSpPr>
        <p:spPr>
          <a:xfrm>
            <a:off x="1" y="958629"/>
            <a:ext cx="9577928" cy="861644"/>
          </a:xfrm>
          <a:prstGeom prst="rect">
            <a:avLst/>
          </a:prstGeom>
          <a:solidFill>
            <a:srgbClr val="000000">
              <a:alpha val="4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01EC38-C58E-D113-550E-95E8D3B5C6CC}"/>
              </a:ext>
            </a:extLst>
          </p:cNvPr>
          <p:cNvSpPr/>
          <p:nvPr/>
        </p:nvSpPr>
        <p:spPr>
          <a:xfrm flipV="1">
            <a:off x="0" y="1820273"/>
            <a:ext cx="5617028" cy="708016"/>
          </a:xfrm>
          <a:prstGeom prst="rect">
            <a:avLst/>
          </a:prstGeom>
          <a:solidFill>
            <a:srgbClr val="000000">
              <a:alpha val="4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4B94E48-B6E1-B361-ED89-C608AE502D44}"/>
              </a:ext>
            </a:extLst>
          </p:cNvPr>
          <p:cNvSpPr txBox="1"/>
          <p:nvPr/>
        </p:nvSpPr>
        <p:spPr>
          <a:xfrm>
            <a:off x="190314" y="958629"/>
            <a:ext cx="95632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The 3rd Choice: A Safety Net of </a:t>
            </a:r>
            <a:r>
              <a:rPr lang="en-US" altLang="zh-TW" sz="4800" dirty="0">
                <a:ln>
                  <a:solidFill>
                    <a:srgbClr val="FFFF00"/>
                  </a:solidFill>
                </a:ln>
                <a:solidFill>
                  <a:srgbClr val="00B0F0"/>
                </a:solidFill>
              </a:rPr>
              <a:t>Faithfulness &amp; Love.</a:t>
            </a:r>
          </a:p>
        </p:txBody>
      </p:sp>
    </p:spTree>
    <p:extLst>
      <p:ext uri="{BB962C8B-B14F-4D97-AF65-F5344CB8AC3E}">
        <p14:creationId xmlns:p14="http://schemas.microsoft.com/office/powerpoint/2010/main" val="2113083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160</Words>
  <Application>Microsoft Office PowerPoint</Application>
  <PresentationFormat>自訂</PresentationFormat>
  <Paragraphs>12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Young-Chung Hsue</dc:creator>
  <cp:lastModifiedBy>Young-Chung Hsue</cp:lastModifiedBy>
  <cp:revision>2</cp:revision>
  <dcterms:created xsi:type="dcterms:W3CDTF">2026-03-03T15:02:33Z</dcterms:created>
  <dcterms:modified xsi:type="dcterms:W3CDTF">2026-03-06T13:37:50Z</dcterms:modified>
</cp:coreProperties>
</file>